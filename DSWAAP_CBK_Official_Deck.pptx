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52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8B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F8B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731520"/>
            <a:ext cx="173736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8B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b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822960"/>
            <a:ext cx="1554480" cy="12779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2286000"/>
            <a:ext cx="103628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F8B82D"/>
                </a:solidFill>
              </a:defRPr>
            </a:pPr>
            <a:r>
              <a:t>CENTRAL BANK OF KENYA | BANKI KUU YA KENYA</a:t>
            </a:r>
          </a:p>
          <a:p>
            <a:pPr>
              <a:spcAft>
                <a:spcPts val="600"/>
              </a:spcAft>
              <a:defRPr sz="3800" b="1">
                <a:solidFill>
                  <a:srgbClr val="FFFFFF"/>
                </a:solidFill>
              </a:defRPr>
            </a:pPr>
            <a:r>
              <a:t>CBK STRIDE™</a:t>
            </a:r>
          </a:p>
          <a:p>
            <a:pPr>
              <a:spcAft>
                <a:spcPts val="1400"/>
              </a:spcAft>
              <a:defRPr sz="2000" b="1">
                <a:solidFill>
                  <a:srgbClr val="F8B82D"/>
                </a:solidFill>
              </a:defRPr>
            </a:pPr>
            <a:r>
              <a:t>Sports Telemetry, Roster Integrity &amp; Digital Enrollment Platform</a:t>
            </a:r>
          </a:p>
          <a:p>
            <a:pPr>
              <a:defRPr sz="1300">
                <a:solidFill>
                  <a:srgbClr val="EEF6FC"/>
                </a:solidFill>
              </a:defRPr>
            </a:pPr>
            <a:r>
              <a:t>• 18 Standard Sporting Disciplines • Data Sovereignty (KDPA 2019) • Financial Privacy by Design • Real-Time Cloud Master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25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8B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09728"/>
            <a:ext cx="100584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8B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b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7160"/>
            <a:ext cx="914400" cy="7517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37360" y="109728"/>
            <a:ext cx="9692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8B82D"/>
                </a:solidFill>
              </a:defRPr>
            </a:pPr>
            <a:r>
              <a:t>EXECUTIVE PERSPECTIVE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Strategic Value Proposition: The 4 Institutional Pillars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4290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5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3063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025BBF"/>
                </a:solidFill>
              </a:defRPr>
            </a:pPr>
            <a:r>
              <a:t>👥 HUMAN RESOURCES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Data-Driven Wellness: Live engagement tracking across 400 staff in all 10 Directorates.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All 18 CBK Disciplines: Full squad rosters for Football, Golf, Athletics, Swimming, Tennis, etc.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Culture &amp; Morale Catalyst: Fosters cross-departmental camaraderie and healthy resilience.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ESG Governance: Produces verified, defensible wellness metrics for CBK Annual Reports.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4290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8B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554480"/>
            <a:ext cx="3063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F8B82D"/>
                </a:solidFill>
              </a:defRPr>
            </a:pPr>
            <a:r>
              <a:t>💰 FINANCE &amp; AUDIT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Financial Privacy by Design: Field devices are strictly stripped of monetary data.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Certified Attendance Units: Certifies 1 Unit (Compliant) vs 0 Units (Flagged) for payroll.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Exclusive Valuation Authority: Finance holds sole discretion to apply per-diem rates.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Zero Fiduciary Leakage: Automatically blocks early exits (&lt;45m) and proxy scans.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71600"/>
            <a:ext cx="34290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52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554480"/>
            <a:ext cx="3063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10529E"/>
                </a:solidFill>
              </a:defRPr>
            </a:pPr>
            <a:r>
              <a:t>🛡️ DATA SOVEREIGNTY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100% Kenyan Residency: Hosted on-premise at Haile Selassie Ave Data Center &amp; KSMS.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Telecom Private APN: Captain tablets run on Safaricom Corporate APN (no public internet).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Internal DNS: Resolves strictly to dswaap.centralbank.go.ke within CBK network.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KDPA 2019 Compliant: Enforces Section 48 &amp; 50 cross-border data transfer restrictions.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25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8B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09728"/>
            <a:ext cx="100584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8B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b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7160"/>
            <a:ext cx="914400" cy="7517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37360" y="109728"/>
            <a:ext cx="9692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8B82D"/>
                </a:solidFill>
              </a:defRPr>
            </a:pPr>
            <a:r>
              <a:t>MOBILE EXPERIENCE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Participant Mobile Check-In: 18 Sports &amp; 1-Click Verification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4864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5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5448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025BBF"/>
                </a:solidFill>
              </a:defRPr>
            </a:pPr>
            <a:r>
              <a:t>📱 18-SPORT SQUAD ROSTERS &amp; 1-CLICK AUTH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Master 18-Game Selector: </a:t>
            </a:r>
          </a:p>
          <a:p>
            <a:pPr>
              <a:spcAft>
                <a:spcPts val="500"/>
              </a:spcAft>
              <a:defRPr sz="1000">
                <a:solidFill>
                  <a:srgbClr val="64748B"/>
                </a:solidFill>
              </a:defRPr>
            </a:pPr>
            <a:r>
              <a:t>  Athletes toggle between all 18 CBK sports (Football, Golf, Athletics, Swimming, Basketball, Tennis, Chess, etc.) with live enrolled player counts.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'Who the Players Are' Squad Explorer: </a:t>
            </a:r>
          </a:p>
          <a:p>
            <a:pPr>
              <a:spcAft>
                <a:spcPts val="500"/>
              </a:spcAft>
              <a:defRPr sz="1000">
                <a:solidFill>
                  <a:srgbClr val="64748B"/>
                </a:solidFill>
              </a:defRPr>
            </a:pPr>
            <a:r>
              <a:t>  Quick-tap athlete pills and live squad dropdowns showing real-time status (Dual-Verified, On Field, or Ready).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1-Click Magic Link Confirmation: </a:t>
            </a:r>
          </a:p>
          <a:p>
            <a:pPr>
              <a:spcAft>
                <a:spcPts val="500"/>
              </a:spcAft>
              <a:defRPr sz="1000">
                <a:solidFill>
                  <a:srgbClr val="64748B"/>
                </a:solidFill>
              </a:defRPr>
            </a:pPr>
            <a:r>
              <a:t>  Featured Golfer Demo: S. N. Gathigi (CBK-1008) receives a secure magic link, clicking once to confirm identity and activate boarding pass.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Dynamic QR Viewfinder: </a:t>
            </a:r>
          </a:p>
          <a:p>
            <a:pPr>
              <a:spcAft>
                <a:spcPts val="500"/>
              </a:spcAft>
              <a:defRPr sz="1000">
                <a:solidFill>
                  <a:srgbClr val="64748B"/>
                </a:solidFill>
              </a:defRPr>
            </a:pPr>
            <a:r>
              <a:t>  Embedded QR sensor validates time-bounded station codes, verifying physical presence on the field or clubhouse.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Financial Privacy on Mobile: </a:t>
            </a:r>
          </a:p>
          <a:p>
            <a:pPr>
              <a:spcAft>
                <a:spcPts val="500"/>
              </a:spcAft>
              <a:defRPr sz="1000">
                <a:solidFill>
                  <a:srgbClr val="64748B"/>
                </a:solidFill>
              </a:defRPr>
            </a:pPr>
            <a:r>
              <a:t>  Athlete profile card strictly shows 'Accredited Athlete' and 'Min 45 Mins Threshold'—zero monetary amounts exposed.</a:t>
            </a:r>
          </a:p>
        </p:txBody>
      </p:sp>
      <p:pic>
        <p:nvPicPr>
          <p:cNvPr id="9" name="Picture 8" descr="ui_snippet_mobile_check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280160"/>
            <a:ext cx="3108960" cy="49549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25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8B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09728"/>
            <a:ext cx="100584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8B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b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7160"/>
            <a:ext cx="914400" cy="7517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37360" y="109728"/>
            <a:ext cx="9692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8B82D"/>
                </a:solidFill>
              </a:defRPr>
            </a:pPr>
            <a:r>
              <a:t>FIELD TOPOLOGY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Field Captain Terminal: Safaricom Corporate APN &amp; Hotspot</a:t>
            </a:r>
          </a:p>
        </p:txBody>
      </p:sp>
      <p:pic>
        <p:nvPicPr>
          <p:cNvPr id="7" name="Picture 6" descr="ui_snippet_captain_term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71600"/>
            <a:ext cx="5212080" cy="46634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8B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F8B82D"/>
                </a:solidFill>
              </a:defRPr>
            </a:pPr>
            <a:r>
              <a:t>🏷️ ZERO-DATA CORPORATE FIELD TOPOLOGY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Safaricom CBK Corporate Private APN: </a:t>
            </a:r>
          </a:p>
          <a:p>
            <a:pPr>
              <a:spcAft>
                <a:spcPts val="500"/>
              </a:spcAft>
              <a:defRPr sz="1000">
                <a:solidFill>
                  <a:srgbClr val="64748B"/>
                </a:solidFill>
              </a:defRPr>
            </a:pPr>
            <a:r>
              <a:t>  Captain tablets are equipped with corporate SIMs on a private APN. Cellular traffic routes directly into CBK's internal firewall with zero public internet transit.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Zero-Data Athlete Hotspot Gateway: </a:t>
            </a:r>
          </a:p>
          <a:p>
            <a:pPr>
              <a:spcAft>
                <a:spcPts val="500"/>
              </a:spcAft>
              <a:defRPr sz="1000">
                <a:solidFill>
                  <a:srgbClr val="64748B"/>
                </a:solidFill>
              </a:defRPr>
            </a:pPr>
            <a:r>
              <a:t>  The Captain tablet broadcasts 'CBK-SPORTS-SECURE'. Athletes connect and scan with ZERO personal data bundles or airtime required.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Dynamic Rotating QR (60s TTL): </a:t>
            </a:r>
          </a:p>
          <a:p>
            <a:pPr>
              <a:spcAft>
                <a:spcPts val="500"/>
              </a:spcAft>
              <a:defRPr sz="1000">
                <a:solidFill>
                  <a:srgbClr val="64748B"/>
                </a:solidFill>
              </a:defRPr>
            </a:pPr>
            <a:r>
              <a:t>  Codes refresh every 60 seconds with HMAC-SHA256 signatures, preventing WhatsApp screenshot sharing and proxy claims.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Offline-First Resilient Buffer: </a:t>
            </a:r>
          </a:p>
          <a:p>
            <a:pPr>
              <a:spcAft>
                <a:spcPts val="500"/>
              </a:spcAft>
              <a:defRPr sz="1000">
                <a:solidFill>
                  <a:srgbClr val="64748B"/>
                </a:solidFill>
              </a:defRPr>
            </a:pPr>
            <a:r>
              <a:t>  If cellular signal dips at Kasarani or tournament venues, scans buffer safely in local SQLite and auto-flush upon reconnection.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1-Tap Gate 1 (IN) vs Gate 2 (OUT): </a:t>
            </a:r>
          </a:p>
          <a:p>
            <a:pPr>
              <a:spcAft>
                <a:spcPts val="500"/>
              </a:spcAft>
              <a:defRPr sz="1000">
                <a:solidFill>
                  <a:srgbClr val="64748B"/>
                </a:solidFill>
              </a:defRPr>
            </a:pPr>
            <a:r>
              <a:t>  Captains toggle with one touch between arrival clock-in and departure certification.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25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8B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09728"/>
            <a:ext cx="100584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8B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b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7160"/>
            <a:ext cx="914400" cy="7517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37360" y="109728"/>
            <a:ext cx="9692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8B82D"/>
                </a:solidFill>
              </a:defRPr>
            </a:pPr>
            <a:r>
              <a:t>REAL-TIME MATRIX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Secretariat Operational Command: All 18 Disciplines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5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025BBF"/>
                </a:solidFill>
              </a:defRPr>
            </a:pPr>
            <a:r>
              <a:t>🏛️ 360° SPORTS SECRETARIAT COMMAND</a:t>
            </a:r>
          </a:p>
          <a:p>
            <a:pPr>
              <a:defRPr b="1" sz="1150">
                <a:solidFill>
                  <a:srgbClr val="0F172A"/>
                </a:solidFill>
              </a:defRPr>
            </a:pPr>
            <a:r>
              <a:t>• Live 18-Sport Turnout Matrix: 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  Real-time attendance numbers across Football, Golf, Athletics, Swimming, Basketball, Tennis, Chess, Aerobics, and more.</a:t>
            </a:r>
          </a:p>
          <a:p>
            <a:pPr>
              <a:defRPr b="1" sz="1150">
                <a:solidFill>
                  <a:srgbClr val="0F172A"/>
                </a:solidFill>
              </a:defRPr>
            </a:pPr>
            <a:r>
              <a:t>• Sub-Second Scans Activity Ticker: 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  Instant event logging of athlete entries across all stadium gates and golf clubhouse tee boxes.</a:t>
            </a:r>
          </a:p>
          <a:p>
            <a:pPr>
              <a:defRPr b="1" sz="1150">
                <a:solidFill>
                  <a:srgbClr val="0F172A"/>
                </a:solidFill>
              </a:defRPr>
            </a:pPr>
            <a:r>
              <a:t>• Appointed Captains Roster: 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  Direct directory link to all 18 appointed Discipline Captains with venue stations and extension contacts (e.g. Capt. Eric Mwangi - Golf).</a:t>
            </a:r>
          </a:p>
          <a:p>
            <a:pPr>
              <a:defRPr b="1" sz="1150">
                <a:solidFill>
                  <a:srgbClr val="0F172A"/>
                </a:solidFill>
              </a:defRPr>
            </a:pPr>
            <a:r>
              <a:t>• Inter-Bank Tournament Command: 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  Centralized operations hub ready for Kenya Bankers Association (KBA) inter-bank games coordination and camp audits.</a:t>
            </a:r>
          </a:p>
        </p:txBody>
      </p:sp>
      <p:pic>
        <p:nvPicPr>
          <p:cNvPr id="9" name="Picture 8" descr="ui_snippet_secretariat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371600"/>
            <a:ext cx="5394960" cy="341313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25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8B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09728"/>
            <a:ext cx="100584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8B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b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7160"/>
            <a:ext cx="914400" cy="7517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37360" y="109728"/>
            <a:ext cx="9692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8B82D"/>
                </a:solidFill>
              </a:defRPr>
            </a:pPr>
            <a:r>
              <a:t>HR GOVERNANCE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HR Analytics Command: Directorate Engagement &amp; Cohorts</a:t>
            </a:r>
          </a:p>
        </p:txBody>
      </p:sp>
      <p:pic>
        <p:nvPicPr>
          <p:cNvPr id="7" name="Picture 6" descr="ui_snippet_hr_command_cen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71600"/>
            <a:ext cx="5394960" cy="341313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0" y="1371600"/>
            <a:ext cx="50292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5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55448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025BBF"/>
                </a:solidFill>
              </a:defRPr>
            </a:pPr>
            <a:r>
              <a:t>👥 STRATEGIC WELLNESS ANALYTICS</a:t>
            </a:r>
          </a:p>
          <a:p>
            <a:pPr>
              <a:defRPr b="1" sz="1150">
                <a:solidFill>
                  <a:srgbClr val="0F172A"/>
                </a:solidFill>
              </a:defRPr>
            </a:pPr>
            <a:r>
              <a:t>• 400 Pre-Enrolled Staff Profiles: 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  Synthetic testing cohort accurately distributed across all 10 Central Bank Directorates and 18 disciplines.</a:t>
            </a:r>
          </a:p>
          <a:p>
            <a:pPr>
              <a:defRPr b="1" sz="1150">
                <a:solidFill>
                  <a:srgbClr val="0F172A"/>
                </a:solidFill>
              </a:defRPr>
            </a:pPr>
            <a:r>
              <a:t>• Directorate Progress Quotas: 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  Visual target tracking across divisions (e.g. IT, Currency Operations, Monetary Policy, Banking &amp; Payment Services).</a:t>
            </a:r>
          </a:p>
          <a:p>
            <a:pPr>
              <a:defRPr b="1" sz="1150">
                <a:solidFill>
                  <a:srgbClr val="0F172A"/>
                </a:solidFill>
              </a:defRPr>
            </a:pPr>
            <a:r>
              <a:t>• Wellness Cohort Distribution: 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  Evaluates employee engagement across Early Morning (06:00-08:30), Lunchtime, and Evening training sessions.</a:t>
            </a:r>
          </a:p>
          <a:p>
            <a:pPr>
              <a:defRPr b="1" sz="1150">
                <a:solidFill>
                  <a:srgbClr val="0F172A"/>
                </a:solidFill>
              </a:defRPr>
            </a:pPr>
            <a:r>
              <a:t>• Institutional ESG Reporting: 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  Generates verified, tamper-proof physical activity metrics for the Central Bank Annual Sustainability &amp; HR Report.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25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8B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09728"/>
            <a:ext cx="100584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8B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b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7160"/>
            <a:ext cx="914400" cy="7517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37360" y="109728"/>
            <a:ext cx="9692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8B82D"/>
                </a:solidFill>
              </a:defRPr>
            </a:pPr>
            <a:r>
              <a:t>FIDUCIARY GOVERNANCE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Finance &amp; Audit Verification Portal: Financial Privacy by Design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8B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F8B82D"/>
                </a:solidFill>
              </a:defRPr>
            </a:pPr>
            <a:r>
              <a:t>💰 SEGREGATION OF DUTIES &amp; PRIVACY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Privacy-by-Design Lockdown: </a:t>
            </a:r>
          </a:p>
          <a:p>
            <a:pPr>
              <a:spcAft>
                <a:spcPts val="500"/>
              </a:spcAft>
              <a:defRPr sz="1000">
                <a:solidFill>
                  <a:srgbClr val="64748B"/>
                </a:solidFill>
              </a:defRPr>
            </a:pPr>
            <a:r>
              <a:t>  Field devices and participant screens are strictly stripped of monetary values. Athletes and captains only see certified attendance accreditation.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Certified Attendance Units: </a:t>
            </a:r>
          </a:p>
          <a:p>
            <a:pPr>
              <a:spcAft>
                <a:spcPts val="500"/>
              </a:spcAft>
              <a:defRPr sz="1000">
                <a:solidFill>
                  <a:srgbClr val="64748B"/>
                </a:solidFill>
              </a:defRPr>
            </a:pPr>
            <a:r>
              <a:t>  Ledger certifies compliant sessions as '1 Unit (Certified)' vs '0 Units (Flagged)' based on the 45-minute policy floor.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Confidential Valuation Controller: </a:t>
            </a:r>
          </a:p>
          <a:p>
            <a:pPr>
              <a:spcAft>
                <a:spcPts val="500"/>
              </a:spcAft>
              <a:defRPr sz="1000">
                <a:solidFill>
                  <a:srgbClr val="64748B"/>
                </a:solidFill>
              </a:defRPr>
            </a:pPr>
            <a:r>
              <a:t>  Finance holds sole authority: an interactive controller allows Finance to assign discretionary per-diem rates for payroll batch runs.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Fraud &amp; Leakage Trapping: </a:t>
            </a:r>
          </a:p>
          <a:p>
            <a:pPr>
              <a:spcAft>
                <a:spcPts val="500"/>
              </a:spcAft>
              <a:defRPr sz="1000">
                <a:solidFill>
                  <a:srgbClr val="64748B"/>
                </a:solidFill>
              </a:defRPr>
            </a:pPr>
            <a:r>
              <a:t>  In our 720-log live cohort: 310 sessions verified compliant, while 35 premature exits (&lt;45m) were automatically blocked from payment.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1-Click Accounts Payable Export: </a:t>
            </a:r>
          </a:p>
          <a:p>
            <a:pPr>
              <a:spcAft>
                <a:spcPts val="500"/>
              </a:spcAft>
              <a:defRPr sz="1000">
                <a:solidFill>
                  <a:srgbClr val="64748B"/>
                </a:solidFill>
              </a:defRPr>
            </a:pPr>
            <a:r>
              <a:t>  Finance officers approve the verified batch and export certified payroll ledgers in CSV and Excel with 1 click.</a:t>
            </a:r>
          </a:p>
        </p:txBody>
      </p:sp>
      <p:pic>
        <p:nvPicPr>
          <p:cNvPr id="9" name="Picture 8" descr="ui_snippet_finance_compli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371600"/>
            <a:ext cx="5394960" cy="341313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25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8B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09728"/>
            <a:ext cx="100584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8B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b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7160"/>
            <a:ext cx="914400" cy="7517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37360" y="109728"/>
            <a:ext cx="9692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8B82D"/>
                </a:solidFill>
              </a:defRPr>
            </a:pPr>
            <a:r>
              <a:t>SOVEREIGN SECURITY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Data Sovereignty &amp; Cybersecurity: Keeping Data CBK-ONLY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4290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5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3063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50" b="1">
                <a:solidFill>
                  <a:srgbClr val="025BBF"/>
                </a:solidFill>
              </a:defRPr>
            </a:pPr>
            <a:r>
              <a:t>1. PHYSICAL SOVEREIGNTY &amp; RESIDENCY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• KDPA 2019 Section 48/50: 100% Kenyan data localization compliance.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• Primary Data Center: CBK Head Office (Haile Selassie Avenue, Nairobi).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• Secondary DR Site: Kenya School of Monetary Studies (KSMS / Eldoret).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• AES-256 Encryption at Rest: Transparent Data Encryption (TDE) on all SAN storage.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4290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8B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554480"/>
            <a:ext cx="3063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50" b="1">
                <a:solidFill>
                  <a:srgbClr val="F8B82D"/>
                </a:solidFill>
              </a:defRPr>
            </a:pPr>
            <a:r>
              <a:t>2. NETWORK PERIMETER RING-FENCE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• Telecom Private APN: Captain SIMs on cbk.safaricom.co.ke private circuit.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• Zero Public Internet Transit: Cellular data routes via direct MPLS into CBK firewall.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• Split-Horizon DNS: dswaap.centralbank.go.ke resolves solely within CBK intranet.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• Outside queries receive NXDOMAIN—invisible to the external public internet.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71600"/>
            <a:ext cx="34290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52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554480"/>
            <a:ext cx="3063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50" b="1">
                <a:solidFill>
                  <a:srgbClr val="10529E"/>
                </a:solidFill>
              </a:defRPr>
            </a:pPr>
            <a:r>
              <a:t>3. ZERO-TRUST IDENTITY &amp; ACCESS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• Active Directory / Entra ID SSO: Strict authentication via @centralbank.go.ke.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• Role-Based Access Control: Segregates Athletes, Captains, HR, and Finance.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• Anti-Tamper Audit Chaining: HMAC-SHA256 cryptographic chain prevents retroactive edits.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• 60-Second Ephemeral QR: Tokens expire in 60s, blocking screenshot sharing.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25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8B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09728"/>
            <a:ext cx="100584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8B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b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7160"/>
            <a:ext cx="914400" cy="7517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37360" y="109728"/>
            <a:ext cx="9692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8B82D"/>
                </a:solidFill>
              </a:defRPr>
            </a:pPr>
            <a:r>
              <a:t>CLOUD INTEGRATION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Cloud Master Synchronization: Real-Time Google Sheets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4290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5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3063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025BBF"/>
                </a:solidFill>
              </a:defRPr>
            </a:pPr>
            <a:r>
              <a:t>⚡ 60-SEC LIVE WEBHOOK STREAMING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• Zero-Cloud Setup: Deploys via a 20-line Google Apps Script Web App.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• Sub-Second Batch Insertion: Appends all 720 records in &lt;1 second via setValues API.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• Real-Time Phone Streaming: Every captain scan at Gate 1 or 2 auto-appends to the cloud sheet.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• Automated CBK Royal Blue Header: Generates frozen branded header automatically.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4290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8B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554480"/>
            <a:ext cx="3063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F8B82D"/>
                </a:solidFill>
              </a:defRPr>
            </a:pPr>
            <a:r>
              <a:t>📁 5-SECOND DIRECT CSV IMPORT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• 1-Click Download: Instant download of full 720-record audit ledger from Tab 6.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• Instant Drop to sheets.new: Drag CSV into Google Sheets in 3 clicks.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• Offline Portability: Works seamlessly even in air-gapped environments without APIs.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• Complete Audit Telemetry: Timestamps, staff IDs, disciplines, and compliance flags.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71600"/>
            <a:ext cx="34290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52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554480"/>
            <a:ext cx="3063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0529E"/>
                </a:solidFill>
              </a:defRPr>
            </a:pPr>
            <a:r>
              <a:t>🔒 TENANT-RESTRICTED GOOGLE DLP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• Restricted to Central Bank of Kenya: External domain sharing strictly disabled.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• Data Loss Prevention (DLP): Disables downloading/exporting to personal Google drives.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• Context-Aware Access: IP allowlist restricted to CBK enterprise egress ranges.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• Full Audit Logging: Google Workspace admin logs track all spreadsheet viewers.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25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8B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09728"/>
            <a:ext cx="100584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8B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b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7160"/>
            <a:ext cx="914400" cy="7517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37360" y="109728"/>
            <a:ext cx="9692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8B82D"/>
                </a:solidFill>
              </a:defRPr>
            </a:pPr>
            <a:r>
              <a:t>OPERATIONAL CONTRAST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Manual Paper Logs vs. DSWAAP Automation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10728655" cy="566928"/>
          </a:xfrm>
          <a:prstGeom prst="roundRect">
            <a:avLst/>
          </a:prstGeom>
          <a:solidFill>
            <a:srgbClr val="025BBF"/>
          </a:solidFill>
          <a:ln w="19050">
            <a:solidFill>
              <a:srgbClr val="F8B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26464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Parameter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1426464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8B82D"/>
                </a:solidFill>
              </a:defRPr>
            </a:pPr>
            <a:r>
              <a:t>Legacy Manual Attendance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1426464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DSWAAP Automated Platform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993392"/>
            <a:ext cx="10728655" cy="566928"/>
          </a:xfrm>
          <a:prstGeom prst="roundRect">
            <a:avLst/>
          </a:prstGeom>
          <a:solidFill>
            <a:srgbClr val="EEF6FC"/>
          </a:solidFill>
          <a:ln w="19050">
            <a:solidFill>
              <a:srgbClr val="F8B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48256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Verification Method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2048256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DC2626"/>
                </a:solidFill>
              </a:defRPr>
            </a:pPr>
            <a:r>
              <a:t>Paper sign-in sheets at field entrance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2048256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025BBF"/>
                </a:solidFill>
              </a:defRPr>
            </a:pPr>
            <a:r>
              <a:t>Dual-gate dynamic QR scanning (Gate 1 &amp; 2)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615184"/>
            <a:ext cx="10728655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8B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670048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Staff Data Cost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2670048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DC2626"/>
                </a:solidFill>
              </a:defRPr>
            </a:pPr>
            <a:r>
              <a:t>N/A (Paper sign-in register)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2670048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025BBF"/>
                </a:solidFill>
              </a:defRPr>
            </a:pPr>
            <a:r>
              <a:t>Zero Cost: Captain Hotspots Athletes (No bundles needed)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236976"/>
            <a:ext cx="10728655" cy="566928"/>
          </a:xfrm>
          <a:prstGeom prst="roundRect">
            <a:avLst/>
          </a:prstGeom>
          <a:solidFill>
            <a:srgbClr val="EEF6FC"/>
          </a:solidFill>
          <a:ln w="19050">
            <a:solidFill>
              <a:srgbClr val="F8B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29184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Proxy Check-in 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3291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DC2626"/>
                </a:solidFill>
              </a:defRPr>
            </a:pPr>
            <a:r>
              <a:t>High (Colleagues sign on behalf of absentees)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329184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025BBF"/>
                </a:solidFill>
              </a:defRPr>
            </a:pPr>
            <a:r>
              <a:t>Zero (Dynamic rotating QR with 60s TTL + HMAC tokens)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858768"/>
            <a:ext cx="10728655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8B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913632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Duration 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360" y="3913632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DC2626"/>
                </a:solidFill>
              </a:defRPr>
            </a:pPr>
            <a:r>
              <a:t>Unenforced (Self-reported hours)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3913632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025BBF"/>
                </a:solidFill>
              </a:defRPr>
            </a:pPr>
            <a:r>
              <a:t>Automated duration math against 45-min policy floor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480560"/>
            <a:ext cx="10728655" cy="566928"/>
          </a:xfrm>
          <a:prstGeom prst="roundRect">
            <a:avLst/>
          </a:prstGeom>
          <a:solidFill>
            <a:srgbClr val="EEF6FC"/>
          </a:solidFill>
          <a:ln w="19050">
            <a:solidFill>
              <a:srgbClr val="F8B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535424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Financial Privacy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23360" y="4535424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DC2626"/>
                </a:solidFill>
              </a:defRPr>
            </a:pPr>
            <a:r>
              <a:t>Amounts openly discussed / written on sheets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4535424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025BBF"/>
                </a:solidFill>
              </a:defRPr>
            </a:pPr>
            <a:r>
              <a:t>Field devices 100% stripped of money; Finance exclusive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5102352"/>
            <a:ext cx="10728655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8B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157216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Data Sovereignty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23360" y="5157216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DC2626"/>
                </a:solidFill>
              </a:defRPr>
            </a:pPr>
            <a:r>
              <a:t>Loose paper files susceptible to loss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0" y="5157216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025BBF"/>
                </a:solidFill>
              </a:defRPr>
            </a:pPr>
            <a:r>
              <a:t>100% On-Premises CBK Data Center + Private APN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5724144"/>
            <a:ext cx="10728655" cy="566928"/>
          </a:xfrm>
          <a:prstGeom prst="roundRect">
            <a:avLst/>
          </a:prstGeom>
          <a:solidFill>
            <a:srgbClr val="EEF6FC"/>
          </a:solidFill>
          <a:ln w="19050">
            <a:solidFill>
              <a:srgbClr val="F8B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779008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Reconciliation Speed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23360" y="5779008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DC2626"/>
                </a:solidFill>
              </a:defRPr>
            </a:pPr>
            <a:r>
              <a:t>4-6 weeks manual audit and signature delays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80960" y="5779008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025BBF"/>
                </a:solidFill>
              </a:defRPr>
            </a:pPr>
            <a:r>
              <a:t>Real-time Google Sheets stream + 1-click AP batch export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25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8B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09728"/>
            <a:ext cx="100584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8B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b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7160"/>
            <a:ext cx="914400" cy="7517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37360" y="109728"/>
            <a:ext cx="9692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8B82D"/>
                </a:solidFill>
              </a:defRPr>
            </a:pPr>
            <a:r>
              <a:t>PATH TO PRODUCTION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Implementation Roadmap &amp; Board Decision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4290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5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3063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025BBF"/>
                </a:solidFill>
              </a:defRPr>
            </a:pPr>
            <a:r>
              <a:t>PHASE 1: PILOT ACCREDITATION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• Joint HR, Finance &amp; Internal Audit Committee sign-off.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• Equip 3 Discipline Captains (Golf, Football, Athletics) with tablets.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• Validate Safaricom Corporate Private APN connectivity.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• Run 50-staff pilot cohort with 1-click magic link authentication.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4290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8B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554480"/>
            <a:ext cx="3063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F8B82D"/>
                </a:solidFill>
              </a:defRPr>
            </a:pPr>
            <a:r>
              <a:t>PHASE 2: 18-SPORT EXPANSION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• Provision tablets for all 18 Discipline Captains with field hotspots.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• Issue Bank-wide circular introducing DSWAAP Mobile Portal.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• Activate Secretariat 360° Operations Command console.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• Deploy stations at CBK Sports Club, Kasarani, and tournament venues.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71600"/>
            <a:ext cx="34290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52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554480"/>
            <a:ext cx="3063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0529E"/>
                </a:solidFill>
              </a:defRPr>
            </a:pPr>
            <a:r>
              <a:t>PHASE 3: ENTERPRISE GO-LIVE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• Bind to on-premises host at dswaap.centralbank.go.ke.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• Integrate Microsoft Entra ID Single Sign-On (SSO).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• First automated 1-Click Batch Accounts Payable payroll run.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• 100% decommissioning of manual paper sign-in registers.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