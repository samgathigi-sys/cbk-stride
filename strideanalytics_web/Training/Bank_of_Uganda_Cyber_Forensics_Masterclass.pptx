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BANK OF UGANDA | EXECUTIVE MASTERCLASS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5-Day Cyber Forensics &amp; Security Investigations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solidFill>
            <a:srgbClr val="0F2B4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Institutional mandate: Protecting sovereign payments, RTGS, and interbank infrastructure.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Complete forensic lifecycle: Evidence seizure, RAM analysis, C2 telemetry, containment &amp; court reporting.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Statutory defensibility: Uganda Computer Misuse Act (2011/2022) &amp; Electronic Signatures Act 2011.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Hands-on case study: 'Operation Crested Crane' 4.8 Billion UGX settlement breach drill.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DAY 1: FOUNDATIONS &amp; EVIDENTIARY INTEGRITY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Principles of Forensic Soundness &amp; Order of Volatility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solidFill>
            <a:srgbClr val="0F2B4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Order of Volatility (RFC 3227): CPU Registers -&gt; RAM -&gt; Swap -&gt; NVMe/SAN -&gt; Backup Tapes.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ISO/IEC 27037 Compliance: Never analyze original evidence; duplicate bitstreams under hardware write-blockers.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Cryptographic Redundancy: Simultaneous dual hashing (SHA-256 + MD5) to guarantee immutability.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Forensic Trap Alert: Binary mode ('wb' / 'rb') capture prevents OS CRLF conversion from corrupting hashes.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DAY 2: NETWORK FORENSICS &amp; TELEMETRY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Financial Cyber Attack Vectors &amp; Beacon Dissection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solidFill>
            <a:srgbClr val="0F2B4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C2 Beacon Statistical Triage: Low jitter (&lt; 0.15) flags automated beacon heartbeats vs. human browsing.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Payment Gateway Probes: Detecting unauthorized outbound wire payloads and rogue beneficiary IDs.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Protocol Telemetry: Full packet dissection (Wireshark), Zeek metadata logs, and TLS JA3/JA4 fingerprinting.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Lateral Movement Detection: Kerberoasting, Pass-the-Hash, and PsExec activity in financial subnets.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DAY 3: HOST ARTIFACTS &amp; MEMORY FORENSICS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Forensic Imaging &amp; Volatile Memory Triage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solidFill>
            <a:srgbClr val="0F2B4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Volatile RAM Forensics (Volatility 3): Inspecting unlinked stealth processes ('psscan') and injected DLLs ('malfind').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Windows Endpoint Forensics: $MFT timestamps, Prefetch execution traces, Shimcache, and Event ID 4624/4688 logs.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Anti-Forensics Unmasking: Identifying timestomping ($STANDARD_INFO vs $FILE_NAME discrepancies).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Data Carving &amp; Extraction: Reconstructing deleted transactions and temporary staging buffers.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DAY 4: INCIDENT RESPONSE &amp; FINANCIAL MALWARE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BoU CSIRT Playbooks &amp; Reverse Engineering Triage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solidFill>
            <a:srgbClr val="0F2B4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Containment Without Reboot: Isolating infected hosts on VLANs to safeguard volatile in-memory evidence.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Active Directory Eviction: Golden Ticket eradication via dual 'krbtgt' password rotation within 10 hours.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Banking Trojan Anatomy: Web-injects, credential scraping, and in-memory payment API hooking.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Threat Signature Engineering: Writing custom YARA rules targeting financial malware strings and headers.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5A059"/>
                </a:solidFill>
              </a:defRPr>
            </a:pPr>
            <a:r>
              <a:t>DAY 5: UGANDA CYBER LAWS &amp; REPORTING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Statutory Admissibility &amp; Executive Briefings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0332720" cy="3931920"/>
          </a:xfrm>
          <a:prstGeom prst="rect">
            <a:avLst/>
          </a:prstGeom>
          <a:solidFill>
            <a:srgbClr val="0F2B48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Uganda Computer Misuse Act (2011/2022): Section 12 (Unauthorized Access), Section 15 (Modification), Section 20 (Fraud).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Data Protection and Privacy Act 2019: Ensuring custody handling safeguards non-incident financial data.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Courtroom Testimony Standards: Demonstrating unbroken chain of custody and scientifically validated toolsets.</a:t>
            </a:r>
          </a:p>
          <a:p>
            <a:pPr>
              <a:spcBef>
                <a:spcPts val="1400"/>
              </a:spcBef>
              <a:defRPr sz="1700">
                <a:solidFill>
                  <a:srgbClr val="CBD5E1"/>
                </a:solidFill>
              </a:defRPr>
            </a:pPr>
            <a:r>
              <a:t>•   Executive Dossier Delivery: Briefing the Governor, Board Audit Committee, and Judicial Prosecutors.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