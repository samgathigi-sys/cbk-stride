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5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731520"/>
            <a:ext cx="17373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822960"/>
            <a:ext cx="1554480" cy="127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28600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8B82D"/>
                </a:solidFill>
              </a:defRPr>
            </a:pPr>
            <a:r>
              <a:t>CENTRAL BANK OF KENYA | BANKI KUU YA KENYA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DATA SOVEREIGNTY &amp; CYBERSECURITY ARCHITECTURE</a:t>
            </a:r>
          </a:p>
          <a:p>
            <a:pPr>
              <a:spcAft>
                <a:spcPts val="1600"/>
              </a:spcAft>
              <a:defRPr sz="1900">
                <a:solidFill>
                  <a:srgbClr val="F8B82D"/>
                </a:solidFill>
              </a:defRPr>
            </a:pPr>
            <a:r>
              <a:t>Institutional Security Blueprint: Keeping DSWAAP Telemetry 100% CBK-ONLY</a:t>
            </a:r>
          </a:p>
          <a:p>
            <a:pPr>
              <a:defRPr sz="1300">
                <a:solidFill>
                  <a:srgbClr val="EEF6FC"/>
                </a:solidFill>
              </a:defRPr>
            </a:pPr>
            <a:r>
              <a:t>Statutory Compliance: Kenya Data Protection Act (2019) • CBK Cybersecurity Guidelines • Central Bank of Kenya Act (Cap 491)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ARCHITECTURAL OVERVIEW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The 5-Pillar Defense-in-Depth Sovereignty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5BBF"/>
                </a:solidFill>
              </a:defRPr>
            </a:pPr>
            <a:r>
              <a:t>1. PHYSICAL RESIDENCY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100% Kenyan Soil: Hosted inside CBK Primary DC (Haile Selassie Ave).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Secondary DR Site: Kenya School of Monetary Studies (KSMS) &amp; Eldoret.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AES-256 Storage: Transparent Data Encryption on all enterprise SAN storage volumes.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Hardware Key Control: Cryptographic root keys safeguarded inside CBK HSMs.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8B82D"/>
                </a:solidFill>
              </a:defRPr>
            </a:pPr>
            <a:r>
              <a:t>2. NETWORK PERIMETER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Telecom Private APN: Captain SIMs on cbk.safaricom.co.ke private circuit.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Zero Public Internet: Cellular packets route via private MPLS to CBK firewall.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Split-Horizon DNS: dswaap.centralbank.go.ke resolves only within CBK intranet.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Invisible to Web: Outside queries receive NXDOMAIN (non-existent domain).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529E"/>
                </a:solidFill>
              </a:defRPr>
            </a:pPr>
            <a:r>
              <a:t>3. ZERO-TRUST IDENTITY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Active Directory SSO: Authenticates strictly via official @centralbank.go.ke.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Domain Restriction: External domains (@gmail.com, etc.) are blocked at ingress.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Segregation of Duties: Captains, Athletes, HR, and Finance have isolated RBAC roles.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Financial Privacy: Field devices are strictly stripped of all monetary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STATUTORY COMPLIANCE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Legal &amp; Regulatory Framework: Kenya Data Protection Act 2019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5BBF"/>
                </a:solidFill>
              </a:defRPr>
            </a:pPr>
            <a:r>
              <a:t>SECTION 48 &amp; 50: DATA LOCALIZATION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Statutory Mandate: Personal Identifiable Information (PII) of Kenyan citizens processed by strategic national institutions must reside within Kenyan jurisdiction.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DSWAAP Compliance: Zero employee names, payroll IDs, or physical telemetry traverse foreign public clouds. All primary records reside in Nairobi.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Risk Mitigated: Eliminates compliance penalties from the Office of the Data Protection Commissioner (ODPC).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B82D"/>
                </a:solidFill>
              </a:defRPr>
            </a:pPr>
            <a:r>
              <a:t>SECTION 3: PURPOSE LIMITATION &amp; MINIMIZATION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Statutory Mandate: Collect only the minimum data strictly necessary for the authorized purpose.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DSWAAP Compliance: Dynamic QR codes encode only ephemeral nonces and station IDs. No personal health, biometric, or banking details are placed in the optical QR payload.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Field Privacy: Field kiosks display only 'Certified Attendance Units'—monetary figures are stripped.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529E"/>
                </a:solidFill>
              </a:defRPr>
            </a:pPr>
            <a:r>
              <a:t>SECTION 40 &amp; CBK AUDIT RULES: IMMUTABILITY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Statutory Mandate: Ensure absolute auditability, integrity, and tamper-evident logging of public records.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DSWAAP Compliance: Append-only SQLite/PostgreSQL ledger with SHA-256 cryptographic audit chaining.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Retention Policy: Attendance archives are retained for 7 years pursuant to National Archives &amp; CBK Financial Regulations.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NETWORK SECURITY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Telecom Private Corporate APN: Eliminating Public Internet Transit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5BBF"/>
                </a:solidFill>
              </a:defRPr>
            </a:pPr>
            <a:r>
              <a:t>📱 FIELD LAYER: CAPTAIN TABLET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CBK MDM Enrolled: Samsung/iPad tablets enrolled in Microsoft Intune / Knox.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Corporate SIM Card: Provisioned exclusively on private APN cbk.safaricom.co.ke.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Hotspot Tethering: Broadcasts encrypted Wi-Fi (CBK-SPORTS-SECURE) to field athletes.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Zero Personal Cost: Athletes require KES 0 personal bundles to scan and check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B82D"/>
                </a:solidFill>
              </a:defRPr>
            </a:pPr>
            <a:r>
              <a:t>📡 CARRIER LAYER: PRIVATE APN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Private IP Allocation: Devices receive non-routable private IPs (10.x.x.x range).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No Public Internet: Packets cannot browse the World Wide Web or social networks.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Direct MPLS Circuit: Safaricom/Airtel tunnels traffic directly to CBK Data Center.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Point-to-Point IPSec: Bank-grade 256-bit encryption across the cellular backhaul.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529E"/>
                </a:solidFill>
              </a:defRPr>
            </a:pPr>
            <a:r>
              <a:t>🏛️ PERIMETER LAYER: CBK CORE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Next-Gen Firewalls: Palo Alto / Fortinet deep packet inspection at CBK perimeter.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Internal WAF: Web Application Firewall protects https://dswaap.centralbank.go.ke.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Split-Horizon DNS: Hostname resolves only over the private corporate tunnel.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Hard Drop Policy: Any connection attempt to external IP addresses is terminated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IDENTITY GOVERNANCE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Role-Based Access Control (RBAC) &amp; Segregation of Duties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749808"/>
          </a:xfrm>
          <a:prstGeom prst="roundRect">
            <a:avLst/>
          </a:prstGeom>
          <a:solidFill>
            <a:srgbClr val="025BB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26464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26464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Authorized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426464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Financial Data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76272"/>
            <a:ext cx="10728655" cy="74980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31136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CBK Athlete (Employee)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31136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Staff ID + SSO / Magic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31136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View personal pass, scan Gate 1/2, view own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23113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NO ACCESS (Stripped for privacy)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80944"/>
            <a:ext cx="1072865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Discipline Captain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35808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CBK SSO + Hardware Tablet PIN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35808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Generate QR codes &amp; view roster for assigned sport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035808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NO ACCESS (Attendance units only)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85616"/>
            <a:ext cx="10728655" cy="74980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Secretariat (HR)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4048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CBK AD SSO + Multi-Factor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84048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Manage all 18 sports, view live turnout, edit rosters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8404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NO ACCESS (Attendance units only)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590288"/>
            <a:ext cx="1072865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45152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Finance &amp; 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45152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Privileged Finance AD Group + MFA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645152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Audit compliance, view duration exceptions, approve 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645152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FULL ACCESS (Sole valuation authority)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0728655" cy="74980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49824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Internal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449824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Read-Only Audit Group + Strict MFA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449824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Inspect tamper-proof hash chain, audit non-compliant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449824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5BBF"/>
                </a:solidFill>
              </a:defRPr>
            </a:pPr>
            <a:r>
              <a:t>READ-ONLY (Audit verification)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FRAUD DEFENSE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Cryptographic Anti-Tampering &amp; Anti-Spoofing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5BBF"/>
                </a:solidFill>
              </a:defRPr>
            </a:pPr>
            <a:r>
              <a:t>⏱️ 60-SECOND DYNAMIC NONCES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Rotating QR Tokens: The QR code on captain tablets refreshes automatically every 60 seconds.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Anti-Screenshot Defense: If an employee takes a photo/screenshot and forwards via WhatsApp, the code has expired before it can be used.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HMAC-SHA256 Signatures: Every token is cryptographically signed with an internal secret key.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B82D"/>
                </a:solidFill>
              </a:defRPr>
            </a:pPr>
            <a:r>
              <a:t>🔗 TAMPER-PROOF AUDIT HASH CHAIN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Cryptographic Chaining: Each attendance event includes Hash_n = HMAC(Record_n || Hash_n-1).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Immutable Ledger: If any system administrator attempts to alter past timestamps or durations, the hash chain breaks instantly.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Automated Internal Audit Alert: Any hash mismatch flags a critical security exception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529E"/>
                </a:solidFill>
              </a:defRPr>
            </a:pPr>
            <a:r>
              <a:t>📍 GEOFENCE &amp; STATION BINDING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Physical Boundary Enforcement: Validates GPS bounding box of approved CBK venues (CBK Sports Club, Kasarani).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BSSID Proximity Binding: Scans are validated against the Captain tablet's unique Wi-Fi MAC address.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Out-of-Bounds Flag: Any scan attempting to bypass local proximity is tagged as 'OUT_OF_BOUNDS_LOCATION'.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CLOUD SECURITY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Restricted Cloud Mirroring: Google Workspace Tenant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5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25BBF"/>
                </a:solidFill>
              </a:defRPr>
            </a:pPr>
            <a:r>
              <a:t>🔒 DOMAIN SHARING RESTRICTION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Central Bank of Kenya Tenant Only: Google Workspace folder permissions are set to 'Restricted — Only people within CBK'.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External Sharing Disabled: Administrative policies block sharing with any external domain (@gmail.com, @yahoo.com).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Denied Access: Even if the spreadsheet link is forwarded outside, Google blocks access with 'You need access'.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8B82D"/>
                </a:solidFill>
              </a:defRPr>
            </a:pPr>
            <a:r>
              <a:t>🛡️ DATA LOSS PREVENTION (DLP)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Export &amp; Download Blocking: Policy checks 'Disable options to download, print, and copy for commenters and viewers'.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Information Rights Management: Prevents local duplication onto unmanaged personal USB drives or cloud storages.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Watermarking: Google Workspace applies persistent institutional metadata watermarks.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290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52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063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529E"/>
                </a:solidFill>
              </a:defRPr>
            </a:pPr>
            <a:r>
              <a:t>👁️ CONTEXT-AWARE ACCESS &amp; LOGS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CBK IP Allowlisting: Context-Aware Access policies ensure sheets can only be opened from CBK-managed devices or corporate egress IPs.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Immutable Google Admin Audit Logs: Every sheet open, edit, and access event is logged in Google Workspace Security Center.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• 7-Year Cloud Audit Retention: Complete historical audit trails accessible to Internal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5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F8B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"/>
            <a:ext cx="1005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b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"/>
            <a:ext cx="914400" cy="7517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7360" y="10972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GOVERNANCE SIGN-OFF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Institutional Cybersecurity Checklist &amp;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8655" cy="658368"/>
          </a:xfrm>
          <a:prstGeom prst="roundRect">
            <a:avLst/>
          </a:prstGeom>
          <a:solidFill>
            <a:srgbClr val="025BB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26464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Implementation 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26464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Technical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26464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Responsible Directorate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426464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B82D"/>
                </a:solidFill>
              </a:defRPr>
            </a:pPr>
            <a:r>
              <a:t>Compliance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84832"/>
            <a:ext cx="10728655" cy="65836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39696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Data Localization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39696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Host primary DB at Haile Selassie Ave Data Center + KSMS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39696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IT Infrastructure &amp; DBA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39696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✅ Architected / 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98064"/>
            <a:ext cx="10728655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Perimeter Ring-Fence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52928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Provision Safaricom CBK Private APN (cbk.safaricom.co.ke)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85292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Telecoms &amp; Network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52928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529E"/>
                </a:solidFill>
              </a:defRPr>
            </a:pPr>
            <a:r>
              <a:t>🔄 Carrier Provisioning Ready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11296"/>
            <a:ext cx="10728655" cy="65836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66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Domain &amp; SSL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Bind split-horizon DNS dswaap.centralbank.go.ke with internal SSL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661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Network &amp; Cyber Security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661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529E"/>
                </a:solidFill>
              </a:defRPr>
            </a:pPr>
            <a:r>
              <a:t>🔄 Ready for Config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224528"/>
            <a:ext cx="10728655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Identity Federation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279392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Hook DSWAAP into Microsoft Entra ID (Azure AD) via SAML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79392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Enterprise Identity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279392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529E"/>
                </a:solidFill>
              </a:defRPr>
            </a:pPr>
            <a:r>
              <a:t>🔄 Ready for Config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37760"/>
            <a:ext cx="10728655" cy="658368"/>
          </a:xfrm>
          <a:prstGeom prst="roundRect">
            <a:avLst/>
          </a:prstGeom>
          <a:solidFill>
            <a:srgbClr val="EEF6FC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Financial Privacy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992624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Strip monetary fields on field kiosks; assign valuation solely to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992624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Internal Audit &amp;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992624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✅ Fully Implemented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50992"/>
            <a:ext cx="10728655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8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05856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Security Sign-Off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705856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Execute Vulnerability Assessment &amp; Penetration Testing (VAPT)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705856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0F172A"/>
                </a:solidFill>
              </a:defRPr>
            </a:pPr>
            <a:r>
              <a:t>CISO Office &amp; Internal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705856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📋 Scheduled for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